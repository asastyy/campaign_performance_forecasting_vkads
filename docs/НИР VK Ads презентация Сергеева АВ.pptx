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ac6efac7d94509" /><Relationship Type="http://schemas.openxmlformats.org/officeDocument/2006/relationships/extended-properties" Target="/docProps/app.xml" Id="R09b61dc8c8fe4564" /><Relationship Type="http://schemas.openxmlformats.org/officeDocument/2006/relationships/officeDocument" Target="/ppt/presentation.xml" Id="R0e7ed9d585d745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40e5f3c1dc410e"/>
  </p:sldMasterIdLst>
  <p:notesMasterIdLst>
    <p:notesMasterId xmlns:r="http://schemas.openxmlformats.org/officeDocument/2006/relationships" r:id="Re10023a7a0b14457"/>
  </p:notesMasterIdLst>
  <p:sldIdLst>
    <p:sldId xmlns:r="http://schemas.openxmlformats.org/officeDocument/2006/relationships" id="256" r:id="R98a5f8ff925046f2"/>
    <p:sldId xmlns:r="http://schemas.openxmlformats.org/officeDocument/2006/relationships" id="257" r:id="R1b4e05be50c84eea"/>
    <p:sldId xmlns:r="http://schemas.openxmlformats.org/officeDocument/2006/relationships" id="258" r:id="Rd7c96e8d829b4a78"/>
    <p:sldId xmlns:r="http://schemas.openxmlformats.org/officeDocument/2006/relationships" id="259" r:id="R2d4d15aa87114a1b"/>
    <p:sldId xmlns:r="http://schemas.openxmlformats.org/officeDocument/2006/relationships" id="260" r:id="R7734a90b88ce4707"/>
    <p:sldId xmlns:r="http://schemas.openxmlformats.org/officeDocument/2006/relationships" id="261" r:id="R29b1c287064f4896"/>
    <p:sldId xmlns:r="http://schemas.openxmlformats.org/officeDocument/2006/relationships" id="262" r:id="R30eb133ad1c64777"/>
    <p:sldId xmlns:r="http://schemas.openxmlformats.org/officeDocument/2006/relationships" id="263" r:id="Refa32f29eac34ec9"/>
    <p:sldId xmlns:r="http://schemas.openxmlformats.org/officeDocument/2006/relationships" id="264" r:id="Re5811f3adbb04f49"/>
    <p:sldId xmlns:r="http://schemas.openxmlformats.org/officeDocument/2006/relationships" id="265" r:id="R4679727c86d54a98"/>
    <p:sldId xmlns:r="http://schemas.openxmlformats.org/officeDocument/2006/relationships" id="266" r:id="R23da4a7f7190416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82c422b15c4fae" /><Relationship Type="http://schemas.openxmlformats.org/officeDocument/2006/relationships/slideMaster" Target="/ppt/slideMasters/slideMaster1.xml" Id="R3a40e5f3c1dc410e" /><Relationship Type="http://schemas.openxmlformats.org/officeDocument/2006/relationships/notesMaster" Target="/ppt/notesMasters/notesMaster1.xml" Id="Re10023a7a0b14457" /><Relationship Type="http://schemas.openxmlformats.org/officeDocument/2006/relationships/presProps" Target="/ppt/presProps.xml" Id="Ra14dc0d3ebe043a1" /><Relationship Type="http://schemas.openxmlformats.org/officeDocument/2006/relationships/tableStyles" Target="/ppt/tableStyles.xml" Id="R2b218a7b26aa45f4" /><Relationship Type="http://schemas.openxmlformats.org/officeDocument/2006/relationships/slide" Target="/ppt/slides/slide1.xml" Id="R98a5f8ff925046f2" /><Relationship Type="http://schemas.openxmlformats.org/officeDocument/2006/relationships/slide" Target="/ppt/slides/slide2.xml" Id="R1b4e05be50c84eea" /><Relationship Type="http://schemas.openxmlformats.org/officeDocument/2006/relationships/slide" Target="/ppt/slides/slide3.xml" Id="Rd7c96e8d829b4a78" /><Relationship Type="http://schemas.openxmlformats.org/officeDocument/2006/relationships/slide" Target="/ppt/slides/slide4.xml" Id="R2d4d15aa87114a1b" /><Relationship Type="http://schemas.openxmlformats.org/officeDocument/2006/relationships/slide" Target="/ppt/slides/slide5.xml" Id="R7734a90b88ce4707" /><Relationship Type="http://schemas.openxmlformats.org/officeDocument/2006/relationships/slide" Target="/ppt/slides/slide6.xml" Id="R29b1c287064f4896" /><Relationship Type="http://schemas.openxmlformats.org/officeDocument/2006/relationships/slide" Target="/ppt/slides/slide7.xml" Id="R30eb133ad1c64777" /><Relationship Type="http://schemas.openxmlformats.org/officeDocument/2006/relationships/slide" Target="/ppt/slides/slide8.xml" Id="Refa32f29eac34ec9" /><Relationship Type="http://schemas.openxmlformats.org/officeDocument/2006/relationships/slide" Target="/ppt/slides/slide9.xml" Id="Re5811f3adbb04f49" /><Relationship Type="http://schemas.openxmlformats.org/officeDocument/2006/relationships/slide" Target="/ppt/slides/slide10.xml" Id="R4679727c86d54a98" /><Relationship Type="http://schemas.openxmlformats.org/officeDocument/2006/relationships/slide" Target="/ppt/slides/slide11.xml" Id="R23da4a7f719041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f9855b894f4a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e9e7cc35fb45d6" /><Relationship Type="http://schemas.openxmlformats.org/officeDocument/2006/relationships/notesMaster" Target="/ppt/notesMasters/notesMaster1.xml" Id="R328959d221ce4a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bf8c477fe04789" /><Relationship Type="http://schemas.openxmlformats.org/officeDocument/2006/relationships/notesMaster" Target="/ppt/notesMasters/notesMaster1.xml" Id="Rd8c9039f76dd44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3083983bfa4667" /><Relationship Type="http://schemas.openxmlformats.org/officeDocument/2006/relationships/notesMaster" Target="/ppt/notesMasters/notesMaster1.xml" Id="Rcf0030fc1aa040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f40eae7c404db3" /><Relationship Type="http://schemas.openxmlformats.org/officeDocument/2006/relationships/notesMaster" Target="/ppt/notesMasters/notesMaster1.xml" Id="R203e9613c87e4b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bcf06583d14729" /><Relationship Type="http://schemas.openxmlformats.org/officeDocument/2006/relationships/notesMaster" Target="/ppt/notesMasters/notesMaster1.xml" Id="Rf16c3b3231e142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9df3cf7e734170" /><Relationship Type="http://schemas.openxmlformats.org/officeDocument/2006/relationships/notesMaster" Target="/ppt/notesMasters/notesMaster1.xml" Id="Rc9f26fd0ab5d43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ee67502c8e4b42" /><Relationship Type="http://schemas.openxmlformats.org/officeDocument/2006/relationships/notesMaster" Target="/ppt/notesMasters/notesMaster1.xml" Id="R913cf9ea797e47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61167c35ff42c0" /><Relationship Type="http://schemas.openxmlformats.org/officeDocument/2006/relationships/notesMaster" Target="/ppt/notesMasters/notesMaster1.xml" Id="R7974bdbcd53a4c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0c2e6c20da434f" /><Relationship Type="http://schemas.openxmlformats.org/officeDocument/2006/relationships/notesMaster" Target="/ppt/notesMasters/notesMaster1.xml" Id="R9d5c2349c9334f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7a345ec299433e" /><Relationship Type="http://schemas.openxmlformats.org/officeDocument/2006/relationships/notesMaster" Target="/ppt/notesMasters/notesMaster1.xml" Id="R155c445cd7804b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590ff4bd334645" /><Relationship Type="http://schemas.openxmlformats.org/officeDocument/2006/relationships/notesMaster" Target="/ppt/notesMasters/notesMaster1.xml" Id="R156a8e6c500747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3e6a9705c944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1cbbd268434ac6" /><Relationship Type="http://schemas.openxmlformats.org/officeDocument/2006/relationships/slideLayout" Target="/ppt/slideLayouts/slideLayout1.xml" Id="Ra3303613802c4e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303613802c4e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5ce2f18df4c5b" /><Relationship Type="http://schemas.openxmlformats.org/officeDocument/2006/relationships/notesSlide" Target="/ppt/notesSlides/notesSlide1.xml" Id="R2ec65ae9a1f942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2b3c246c54af3" /><Relationship Type="http://schemas.openxmlformats.org/officeDocument/2006/relationships/notesSlide" Target="/ppt/notesSlides/notesSlide2.xml" Id="R26dc31282b4042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89c90f4a14fdf" /><Relationship Type="http://schemas.openxmlformats.org/officeDocument/2006/relationships/notesSlide" Target="/ppt/notesSlides/notesSlide3.xml" Id="R337c8b59941840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a67e5b0d84ee8" /><Relationship Type="http://schemas.openxmlformats.org/officeDocument/2006/relationships/notesSlide" Target="/ppt/notesSlides/notesSlide4.xml" Id="Rcdd77da25d6346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ce5d578f546d6" /><Relationship Type="http://schemas.openxmlformats.org/officeDocument/2006/relationships/notesSlide" Target="/ppt/notesSlides/notesSlide5.xml" Id="R41329dbd22be45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ec522a05a48d1" /><Relationship Type="http://schemas.openxmlformats.org/officeDocument/2006/relationships/notesSlide" Target="/ppt/notesSlides/notesSlide6.xml" Id="R7dec70ecf10949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4644a77254d99" /><Relationship Type="http://schemas.openxmlformats.org/officeDocument/2006/relationships/notesSlide" Target="/ppt/notesSlides/notesSlide7.xml" Id="R9997aef969e647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ce58df4214ecd" /><Relationship Type="http://schemas.openxmlformats.org/officeDocument/2006/relationships/notesSlide" Target="/ppt/notesSlides/notesSlide8.xml" Id="R6cc109d420be44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1f9074a8f464d" /><Relationship Type="http://schemas.openxmlformats.org/officeDocument/2006/relationships/notesSlide" Target="/ppt/notesSlides/notesSlide9.xml" Id="Rf4b475b7f6ea4a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c17be3ea2403a" /><Relationship Type="http://schemas.openxmlformats.org/officeDocument/2006/relationships/notesSlide" Target="/ppt/notesSlides/notesSlide10.xml" Id="Rd8e1a285540742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55c5ed4e642f6" /><Relationship Type="http://schemas.openxmlformats.org/officeDocument/2006/relationships/notesSlide" Target="/ppt/notesSlides/notesSlide11.xml" Id="Rd2cc1e700f9b4e1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A522AC-874E-4245-8286-93C2380C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45781-D4BC-4923-9D3B-15A9CD00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1346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8EBE7-64AF-4B62-951E-485B9C93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3335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B91CC-31B1-43BC-9AED-3505D5EC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9715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Машинное обучение и анализ данных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6151F-2458-4546-A46D-BF8C888C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38300"/>
            <a:ext cx="781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Декомпозиционное моделирование прогноза охвата рекламной кампании в аукционной системе VK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A0B08-93C8-4847-AE03-52C6349A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628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Выполнила: Сергеева А.В.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Курсовая работа / НИР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Санкт-Петербург, июнь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59718-AA50-4E87-B19C-F981B894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05150"/>
            <a:ext cx="2171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1067D-7601-4A1F-A85C-40C32462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051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B3EC6-0EBD-4E30-97AD-729898FE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67075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7A5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67A5E"/>
                </a:solidFill>
                <a:latin typeface="Aptos"/>
                <a:ea typeface="Aptos"/>
                <a:cs typeface="Aptos"/>
              </a:rPr>
              <a:t>0.84%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1C0DE-7D34-4CC0-8B59-CC584EE7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4807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ошибка на open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FA8BCB-A536-4D88-B49A-5AC78829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48150"/>
            <a:ext cx="2171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C595DD-AAE1-41AD-B14B-128FB900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481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9FBD69-9724-497A-B38E-04BAA0AE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10075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6B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F66B3"/>
                </a:solidFill>
                <a:latin typeface="Aptos"/>
                <a:ea typeface="Aptos"/>
                <a:cs typeface="Aptos"/>
              </a:rPr>
              <a:t>11.55%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AC4CFF-3F6C-4242-85F6-43080EF3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79107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temporal calibrated holdout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33797A-CB7D-4959-A0DA-F2CEB1E2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781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Задача: предсказать долю пользователей с 1+, 2+ и 3+ показами объявления</a:t>
            </a:r>
          </a:p>
        </p:txBody>
      </p:sp>
    </p:spTree>
    <p:extLst>
      <p:ext uri="{BB962C8B-B14F-4D97-AF65-F5344CB8AC3E}">
        <p14:creationId xmlns:p14="http://schemas.microsoft.com/office/powerpoint/2010/main" val="12841378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885830-3571-49AC-AA9B-3AAC2322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FEFBC-E160-4545-9B2A-B690BB39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1E69E-B314-45E8-8CB0-7384C926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F87DF-0FA5-48ED-8762-063E8BC6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F5F51-88BE-498F-B8DE-E0688E5A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A542F-2083-4D64-B6FA-917E46FE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9057C7-83BA-49CC-BD13-A56A31DA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572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FB18B2-37A0-4239-AEDF-CCC5D050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Школа информатики, физики и технологий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7B929-E8C4-4188-88C6-F6CE9E90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Машинное обучение и анализ данных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302D8-D870-4E02-B562-2B370198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43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Июнь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F60E75-229A-4540-9A94-EF350D8F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143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3A7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4266DC-973C-404F-A7B5-305D774D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6B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6B3"/>
                </a:solidFill>
                <a:latin typeface="Aptos"/>
                <a:ea typeface="Aptos"/>
                <a:cs typeface="Aptos"/>
              </a:rPr>
              <a:t>ЦЕЛЬ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1B9632-FD6E-41E8-BA0E-2A739A3A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838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Предсказать reach/frequency до запуска кампании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9088F4-E807-4632-847A-C3977C4F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Выход модели — доли пользователей, увидевших объявление хотя бы 1, 2 и 3 раза.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044B51-4DF9-427E-9F07-EDAC5CA9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НИР / VK Ads reach forecasting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0331DE-032D-479E-833F-7C58E70B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Цель работы: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F3B3A8-4176-49DF-B64A-082CD541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765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автоматизация прогноза охвата рекламного объявления в аукционной системе VK Ads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1A240A-B85D-4EBF-AB4D-EB8F9D32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4400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1B73DF-CCA1-4A6A-9814-BDD560DF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4400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E0586E-DC89-42C2-9CF9-AF3F4E44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6B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66B3"/>
                </a:solidFill>
                <a:latin typeface="Aptos"/>
                <a:ea typeface="Aptos"/>
                <a:cs typeface="Aptos"/>
              </a:rPr>
              <a:t>Изучить данные и метрику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169D72-942C-4682-BF57-2D2915C6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434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users/history/validate/answers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2C7E80-43F8-46B9-ABE7-26A4E9A0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848100"/>
            <a:ext cx="4400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340DC8-E2C7-48EB-B6CE-0BE9A74C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848100"/>
            <a:ext cx="4400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3FD9FA-C55C-47E5-830F-1C2331E6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386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7A5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67A5E"/>
                </a:solidFill>
                <a:latin typeface="Aptos"/>
                <a:ea typeface="Aptos"/>
                <a:cs typeface="Aptos"/>
              </a:rPr>
              <a:t>Собрать baseline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6904A0-D9A4-427F-A828-4196C42F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434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boosting на агрегированных признаках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DBE333-951E-4401-82D6-30FD6D94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14900"/>
            <a:ext cx="4400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ACEC05-5F79-4CBB-8E24-9E805BCB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14900"/>
            <a:ext cx="4400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C2AE1B-0E02-4F5B-BF1D-5B442670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054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66A0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66A00"/>
                </a:solidFill>
                <a:latin typeface="Aptos"/>
                <a:ea typeface="Aptos"/>
                <a:cs typeface="Aptos"/>
              </a:rPr>
              <a:t>Реализовать декомпозицию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510520-353E-4CA0-A5F6-F55397A8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102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supply × auction × session aggregation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35CBF5-A1C9-4496-B846-4866825E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914900"/>
            <a:ext cx="4400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D5F990-12EB-4983-BF5F-4589BF70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914900"/>
            <a:ext cx="4400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B95E5D-0279-4184-9B63-B630C229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1054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Проверить результат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FA3A29-56EF-45BF-9347-3B6930C8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4102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официальная метрика + error slices</a:t>
            </a:r>
          </a:p>
        </p:txBody>
      </p:sp>
    </p:spTree>
    <p:extLst>
      <p:ext uri="{BB962C8B-B14F-4D97-AF65-F5344CB8AC3E}">
        <p14:creationId xmlns:p14="http://schemas.microsoft.com/office/powerpoint/2010/main" val="4451589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80898D-BCEB-44C3-ABDB-10B95BBE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9FF15-2019-443D-BB68-02D75E92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3284D-D689-4135-9729-03519429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15D04-9571-475C-83B3-9A70B5D8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B610A4-972D-4DE4-873B-DBC242BC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6B151-C58D-4C19-A725-8BB7A6A5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51BF0-C5B5-490A-BD8B-BDD1FE92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572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BDFDB7-11D7-4515-9376-6D2AC5CB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Школа информатики, физики и технологий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CA23BC-872C-45A8-9365-C931D51B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Машинное обучение и анализ данных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B7FF42-39E7-4CE5-B514-CAD9A140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43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Июнь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3261E1-B29E-4940-8BAD-8FE2AD0A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143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3A7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6C5DE-FB32-4963-AF4E-A43020D5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6B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6B3"/>
                </a:solidFill>
                <a:latin typeface="Aptos"/>
                <a:ea typeface="Aptos"/>
                <a:cs typeface="Aptos"/>
              </a:rPr>
              <a:t>ДАННЫЕ И МЕТРИКА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F4BFB8-882A-4683-AFB8-91996964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838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Задача задана как прогноз трех threshold reach-метрик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28DEE-1C16-4F39-A230-09823B7F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История содержит observed winning CPM; полных проигранных аукционов нет.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74B1DA-4173-4AFF-94EA-A3D7628E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НИР / VK Ads reach forecasting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B6EB6C-9D95-4742-89BB-CC2D1B13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790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644FEB-5178-478D-A014-67002B6D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Файл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416E2F-EDA0-49CA-974D-4A9D0C3B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914650"/>
            <a:ext cx="500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Содержание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B241F0-80E7-4F22-8DE0-65CC1B77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781300"/>
            <a:ext cx="95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61307A-4E7D-4D85-A204-6E66145B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146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Размер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EFF459-D9C2-445A-98C2-12526499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81300"/>
            <a:ext cx="95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4A9773-FAF4-4FF9-A42A-6BA46710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790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9E8129-A65C-4D73-B59A-D3AF36FF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62325"/>
            <a:ext cx="1381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users.tsv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1518C1-2189-444F-B121-1D212523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362325"/>
            <a:ext cx="5000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пол, возраст, город пользователя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E2A2C2-B213-4D7E-8291-02C1CE78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62325"/>
            <a:ext cx="95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27 769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4FC534-6D7F-4C64-B2E4-2CC40B7D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790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142D22-9278-4271-B96E-F029FDA0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38575"/>
            <a:ext cx="1381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history.tsv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4DF3B0-F495-4B5C-A7E1-F79837BF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838575"/>
            <a:ext cx="5000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hour, publisher, user_id, winning CPM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F3C36B-0B89-466A-B36F-224F8945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38575"/>
            <a:ext cx="95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1 147 857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C623F1-1B54-44C1-A5EA-7AE30FB8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790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A38879-0230-4D1C-87AD-0ABDCE9B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14825"/>
            <a:ext cx="1381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validate.tsv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4A9308-AE7A-4B0A-A7AC-4E4241AD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314825"/>
            <a:ext cx="5000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CPM, окно, publishers, audience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E02A52-CC8A-4784-A920-E1D5F2E0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14825"/>
            <a:ext cx="95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1 008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207B68-18BE-4E9C-8185-F0DA3BCA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790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10ABA4-CF5B-41E4-8630-B288A08B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91075"/>
            <a:ext cx="1381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validate_answers.tsv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56623F-49EC-4AA3-A3B9-C4B7FAA1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791075"/>
            <a:ext cx="5000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at_least_one / two / three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3D5CC0-25C8-400A-BA24-58EA7C7A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791075"/>
            <a:ext cx="95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1 008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809F15-E840-4B64-BE6D-52F99E9A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1907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C243FB-2484-469E-85FD-87E06E65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60D2CD-7DD9-429E-9797-BDE13680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8610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66A0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66A00"/>
                </a:solidFill>
                <a:latin typeface="Aptos"/>
                <a:ea typeface="Aptos"/>
                <a:cs typeface="Aptos"/>
              </a:rPr>
              <a:t>Метрика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7BA0D9-12EA-4FAF-A3ED-751CE09A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90900"/>
            <a:ext cx="18859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Smoothed Mean Log Accuracy Ratio. Это процент ошибки: чем ближе к 0%, тем лучше.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1E3729-B2C4-4139-8194-9999F240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673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7A5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67A5E"/>
                </a:solidFill>
                <a:latin typeface="Aptos"/>
                <a:ea typeface="Aptos"/>
                <a:cs typeface="Aptos"/>
              </a:rPr>
              <a:t>Важно: 0.84% лучше, чем 0.85%.</a:t>
            </a:r>
          </a:p>
        </p:txBody>
      </p:sp>
    </p:spTree>
    <p:extLst>
      <p:ext uri="{BB962C8B-B14F-4D97-AF65-F5344CB8AC3E}">
        <p14:creationId xmlns:p14="http://schemas.microsoft.com/office/powerpoint/2010/main" val="8635306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2B8BD0-FC1C-4F65-9473-BFB99571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E8F55-BA6E-4EDD-8CF6-B8CAC9D5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EC355-10BB-4485-A8DF-AAC59A66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01201-45F8-4D41-9B5B-FC0BCAA2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DAA97-9A15-4929-9DD0-D745088A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AE23A-301B-4466-8187-F9468935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713D7-B48A-4D8B-B6DE-B4379FDB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572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6D7C7C-8A97-4A8D-8471-72372729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Школа информатики, физики и технологий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B04800-0BAC-492A-ABCB-3D0DFA45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Машинное обучение и анализ данных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766B9-8602-485D-ACDA-C1808ACE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43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Июнь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6B4CA-D533-4D0D-BC8D-A8C9F53D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143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3A7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36A111-5F05-4EA6-B464-130F952D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6B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6B3"/>
                </a:solidFill>
                <a:latin typeface="Aptos"/>
                <a:ea typeface="Aptos"/>
                <a:cs typeface="Aptos"/>
              </a:rPr>
              <a:t>ВЫБОР ПОДХОДА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759C8B-969A-40A0-B836-DFFD4F0A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838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Декомпозиция лучше соответствует механике аукциона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29A366-650B-4A02-A33B-38D54D35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Boosting остается сильным baseline, но не объясняет, где именно возникает reach.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AC4ACA-40B6-4935-904B-67F259D4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НИР / VK Ads reach forecasting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2FF4E-583C-4C22-8A93-9015C8FF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37C62D-B0E4-4F2F-893D-B560E8E7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146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Критерий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D52A38-CAB6-41D3-90D4-6FB3B5D0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1465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Прямая регрессия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EEC5DB-8C2C-4E48-9AA0-708FAE1A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81300"/>
            <a:ext cx="95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799B17-20CA-4917-BD37-52306154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1465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Supply × auction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716E47-DA89-443D-A1D6-D4E4EF30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81300"/>
            <a:ext cx="95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B7C80-10B1-47C7-B958-136B53B1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744ACD-549F-497E-9EE4-32C0687B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Интерпретируемость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213CFA-16CC-4878-9410-678844A0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81375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средняя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B8F8BD-B4B4-4776-9ADC-DEA88A5A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81375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высокая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19E440-01CE-4D2F-B326-0F8F15CE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7190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34F24F-09E8-4C85-87B3-A3CBF358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76675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Связь с CPM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FF5A28-D1A2-4E0A-A3EA-ECDD45D0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76675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через агрегаты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AC044C-43E7-4EF6-AB61-EC6BC112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76675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через win rule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684447-CDA4-4CA4-8215-F03FD330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6720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722226-7258-4490-9D3F-4944612F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71975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Повторные показы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FBD14D-5937-4FF9-86C3-33F1498E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71975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неявно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A5B58B-A449-48BA-A53D-C5130E93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71975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через сессии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ADB801-9BA0-467B-B2CB-CA663E01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4C4FFD-9181-49BB-8D07-4005D07A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67275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Риск leakage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EF5CD0-C2E6-4C88-BC23-E70D0304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67275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ниже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28BF50-ABA9-4CE0-B753-AEB99C22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67275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нужно явно разделять replay/future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9CC59D-5EB0-47F1-975D-CE14FA0E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34000"/>
            <a:ext cx="9353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EE81AA-9322-4C9F-8767-19097B3A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34000"/>
            <a:ext cx="9353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0509EA-D6BF-4FE8-B008-D0427E34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245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6B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66B3"/>
                </a:solidFill>
                <a:latin typeface="Aptos"/>
                <a:ea typeface="Aptos"/>
                <a:cs typeface="Aptos"/>
              </a:rPr>
              <a:t>Выбор для НИР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070F88-2E00-4224-B1D0-72C507D9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829300"/>
            <a:ext cx="904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Основной метод — декомпозиция; boosting — baseline, согласованный как нормальная точка сравнения.</a:t>
            </a:r>
          </a:p>
        </p:txBody>
      </p:sp>
    </p:spTree>
    <p:extLst>
      <p:ext uri="{BB962C8B-B14F-4D97-AF65-F5344CB8AC3E}">
        <p14:creationId xmlns:p14="http://schemas.microsoft.com/office/powerpoint/2010/main" val="20279543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923D36-C08E-4BEB-AA75-7061C775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8F451-78D0-47B3-A4AD-363E067A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5A38A-FFB0-4550-9EA1-44C51E56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59B9E-A67F-4C1F-8A53-AEF74CE7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46BB1-2B71-4AE7-904B-E37C4CF9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35C32-95A8-4854-9D81-1AADD363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6A7A80-3DE0-4CF5-B3CF-A923DE1C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572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505FA-56D9-4840-85B3-CB9E3726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Школа информатики, физики и технологий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6ECC6-4232-4B72-B06A-6A7E33B3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Машинное обучение и анализ данных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4B390B-24F4-4922-B685-88D0629E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43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Июнь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A59F99-20E3-4209-AF9C-842F7F34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143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3A7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F150B4-3536-4BFB-9281-E9BB799D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6B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6B3"/>
                </a:solidFill>
                <a:latin typeface="Aptos"/>
                <a:ea typeface="Aptos"/>
                <a:cs typeface="Aptos"/>
              </a:rPr>
              <a:t>ПАЙПЛАЙН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5424B-C35D-4E5A-84D4-43386C3B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838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Модель собирает прогноз из четырех прозрачных блоков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E0EA09-6B32-4FEB-B6E2-1C1E7A1E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Каждый блок можно объяснить на защите и проверить отдельно.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24024B-A405-44B7-B672-5FF3D8DA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НИР / VK Ads reach forecasting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3323E-B675-45A6-B4A5-1D43CC45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D5FFD2-FF16-4211-ACD2-9D3C7D9A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2EE8A4-F876-4807-841B-376BB739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6B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66B3"/>
                </a:solidFill>
                <a:latin typeface="Aptos"/>
                <a:ea typeface="Aptos"/>
                <a:cs typeface="Aptos"/>
              </a:rPr>
              <a:t>Supply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38E3C0-6A14-48FE-9112-440EF023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user × hour × publisher opportunities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44992A-9DE8-4C1E-A88C-AC1B074E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814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A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821A20-B18C-41EF-8560-366F3FCD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543300"/>
            <a:ext cx="762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A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D213C9-8989-4EE9-9030-45B4389C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0515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F4E00F-0E8E-447F-9623-D50A9414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051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6064E6-67BA-4FC8-8402-1D7455BF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337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66A0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66A00"/>
                </a:solidFill>
                <a:latin typeface="Aptos"/>
                <a:ea typeface="Aptos"/>
                <a:cs typeface="Aptos"/>
              </a:rPr>
              <a:t>Auction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9D4A8A-7D1D-4E75-92A8-0F6A3AC1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195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CPM &gt; winning CPM → win; equality → 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0FF14E-5897-46FD-9BEA-348BB11B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814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A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E47BFB-EB18-4BD9-89B6-1351EC90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543300"/>
            <a:ext cx="762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A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9A1F45-B369-41BB-9AF3-1EC86A8A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0515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B4E8BE-1033-4DCC-8159-61EB0627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051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A79B9B-ABF0-4861-825A-39E13720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337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7A5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67A5E"/>
                </a:solidFill>
                <a:latin typeface="Aptos"/>
                <a:ea typeface="Aptos"/>
                <a:cs typeface="Aptos"/>
              </a:rPr>
              <a:t>Sessions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3DD855-C250-4766-B57A-0733AD61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195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gap ≥ 6 часов: не больше 1 показа в сессии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C6FB63-7590-4EEE-B52E-59C0355A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814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A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7077FE-56D1-4EDE-BA46-038EC1B1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543300"/>
            <a:ext cx="762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A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6CFFC8-3797-49DD-AF59-5066149B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0515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6EC40A-15E9-467B-931C-5C7E5945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051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AB6485-35DC-4C84-A37F-3AEACF8F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337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Aggregation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654B08-59E8-4882-A912-46499B4C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195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P(1+), P(2+), P(3+) по аудитории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9F3E62-16FE-4105-85DA-0C6721AE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81550"/>
            <a:ext cx="4095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F2D296-7BC1-4B5B-9579-6758D4A4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81550"/>
            <a:ext cx="409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F4842B-A5B9-4E34-9873-34DA5512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72050"/>
            <a:ext cx="3790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Техническая деталь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8C96CE-345E-4084-B01E-BE48ADDF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76850"/>
            <a:ext cx="3790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Для вероятностей по сессиям используется Poisson-binomial DP, чтобы сохранить монотонность 1+ ≥ 2+ ≥ 3+.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782839-C80A-40EF-8CD9-2E2D5EAE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81550"/>
            <a:ext cx="4095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81FED4-041A-4894-A2EA-C32DA941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81550"/>
            <a:ext cx="409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CE9E64-D6A4-46AD-95C5-8AEF0CE2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72050"/>
            <a:ext cx="3790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66A0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66A00"/>
                </a:solidFill>
                <a:latin typeface="Aptos"/>
                <a:ea typeface="Aptos"/>
                <a:cs typeface="Aptos"/>
              </a:rPr>
              <a:t>Что важно проговорить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A5B471-19C1-49F3-A92A-984E7BD8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76850"/>
            <a:ext cx="3790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Replay открытой валидации и будущий forecast — разные режимы использования одного пайплайна.</a:t>
            </a:r>
          </a:p>
        </p:txBody>
      </p:sp>
    </p:spTree>
    <p:extLst>
      <p:ext uri="{BB962C8B-B14F-4D97-AF65-F5344CB8AC3E}">
        <p14:creationId xmlns:p14="http://schemas.microsoft.com/office/powerpoint/2010/main" val="102657175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BAA1DB-573B-4F37-A9C2-0EE42CFE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0CA62-2BE9-4FC0-A478-95BAF220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5BD81-5A4A-4496-9AFC-D5ED3C09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B10FB-9206-4034-9BEF-0D039750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5FDBC-B56D-4BF8-9EA7-41CEEBC9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BEB08-1809-468C-90A0-AEA06433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426E7-AD75-41E6-AC9E-9E447EAA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572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1AD097-A868-4766-A19A-6255B8EF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Школа информатики, физики и технологий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0D2F7B-9C2B-4A8A-A6F2-9BDC3987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Машинное обучение и анализ данных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E269DD-A9BB-4653-B088-7DB21CF0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43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Июнь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6CF36B-6C95-4081-B124-07FA1E0A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143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3A7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CE954-5603-4EC0-8163-F4FC5551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6B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6B3"/>
                </a:solidFill>
                <a:latin typeface="Aptos"/>
                <a:ea typeface="Aptos"/>
                <a:cs typeface="Aptos"/>
              </a:rPr>
              <a:t>ATTEMPT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24C27-F9A3-4939-BCA8-D9C5025A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838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Boosting baseline проверен на корректном temporal split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5D1298-ABE6-4DBC-B0C1-2D1F07DE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После экспертного комментария random KFold заменен на expanding future folds.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24FDF0-81B6-449B-8927-91103421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НИР / VK Ads reach forecasting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F944F1-313D-496A-83B6-6F9C332C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2171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9CB72D-CDDF-4779-84AC-0896CE0E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12B84C-BF11-49B4-8A21-3056AE86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76575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6B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F66B3"/>
                </a:solidFill>
                <a:latin typeface="Aptos"/>
                <a:ea typeface="Aptos"/>
                <a:cs typeface="Aptos"/>
              </a:rPr>
              <a:t>12.78%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E0E164-752D-4D90-8C67-FCBF3FF1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5757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HGB temporal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6EBE0E-DE28-4254-BE8A-9DED9395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14650"/>
            <a:ext cx="2171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D9FB59-4763-467B-A075-2B7AAC1D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146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76AF8D-961A-4BAB-8565-FC360C68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76575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66A0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66A00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4C1E7D-0024-44C8-ACEE-E7436F18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5757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признака с user embeddings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32A31F-F4D8-478F-84DB-10E36FC2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14650"/>
            <a:ext cx="2171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CCADFE-88B9-4844-A44B-D2A1FADF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146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4AEEB8-EA05-408E-8AF7-828FC390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76575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5 folds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7E32D0-7920-47F1-BD2D-E917B8C7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5757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train → future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6B31FE-9DBC-4732-BAC8-4A53BAD0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3C7BD1-895D-491F-AD25-3803977A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4000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94A776-56C8-454F-9708-162FD44B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3695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7A5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67A5E"/>
                </a:solidFill>
                <a:latin typeface="Aptos"/>
                <a:ea typeface="Aptos"/>
                <a:cs typeface="Aptos"/>
              </a:rPr>
              <a:t>Что добавлено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C8C98C-5EA0-4C77-AFDD-7C96995D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9650"/>
            <a:ext cx="3695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SVD-представления пользователей по publisher × hour-of-day × day-of-week агрегируются по аудитории кампании.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CFB3FA-5EFE-4961-9D95-2FA373EA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324350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8C37A3-84EE-41C0-95E1-F5A27EC5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324350"/>
            <a:ext cx="4000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434E3C-E16B-4753-8DA7-E1276174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514850"/>
            <a:ext cx="3695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66A0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66A00"/>
                </a:solidFill>
                <a:latin typeface="Aptos"/>
                <a:ea typeface="Aptos"/>
                <a:cs typeface="Aptos"/>
              </a:rPr>
              <a:t>Вывод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5F2018-1C0C-4AE5-86EB-67EADAC9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819650"/>
            <a:ext cx="3695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Даже с embedding-like фичами tabular baseline уступает month-template и декомпозиции.</a:t>
            </a:r>
          </a:p>
        </p:txBody>
      </p:sp>
    </p:spTree>
    <p:extLst>
      <p:ext uri="{BB962C8B-B14F-4D97-AF65-F5344CB8AC3E}">
        <p14:creationId xmlns:p14="http://schemas.microsoft.com/office/powerpoint/2010/main" val="5449258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597E75-81C9-4926-9388-60B59584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AAD06-8660-4C1D-B273-1A2F44EB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33C37-FD85-4EEA-8CFB-19AC5EC9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30670-7DE3-441D-B8E8-42D8FDEA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2C126A-0803-42C8-AE1E-F10DD5B1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4D54C6-4BD8-40E3-A728-03D28DE4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3C771-F592-4380-ABC9-9B38088F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572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F9967-58E6-47F5-8A1B-638B74B5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Школа информатики, физики и технологий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FFABC-380B-4093-A3E9-BE3F50AF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Машинное обучение и анализ данных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20D556-3BF7-42D4-8171-3FC742DA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43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Июнь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38B7AA-664D-4992-B9B3-238D94E8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143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3A7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B8ED14-E9D9-4857-8CFD-A109EC76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6B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6B3"/>
                </a:solidFill>
                <a:latin typeface="Aptos"/>
                <a:ea typeface="Aptos"/>
                <a:cs typeface="Aptos"/>
              </a:rPr>
              <a:t>ATTEMPT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8E337E-8B79-4D47-B819-CAA9111A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838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Month-template усиливается per-target calibration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15AE27-EF59-457F-A492-EB8AF488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Калибровка делается отдельно для 1+, 2+ и 3+ поверх frozen-прогноза.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04AAB6-EAE3-4F3B-9C04-63392452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НИР / VK Ads reach forecasting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8112C5-C18E-40FF-B2C7-090A24E5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2171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408C56-0B92-4329-8F7D-7E28C37A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575923-756F-4A71-852A-B30E48B7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57525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7A5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67A5E"/>
                </a:solidFill>
                <a:latin typeface="Aptos"/>
                <a:ea typeface="Aptos"/>
                <a:cs typeface="Aptos"/>
              </a:rPr>
              <a:t>11.31%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D4B49E-D34B-4F83-89ED-CA644306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3852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raw month template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1F6ECF-1E87-4E79-94B3-B0C28D66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95600"/>
            <a:ext cx="2171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F0D8D4-F4ED-4A2D-9546-99991FD7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9560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510DE9-2249-4469-831B-CD29AA36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57525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6B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F66B3"/>
                </a:solidFill>
                <a:latin typeface="Aptos"/>
                <a:ea typeface="Aptos"/>
                <a:cs typeface="Aptos"/>
              </a:rPr>
              <a:t>11.09%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E0A961-3C18-49A5-A825-0EE12D2B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3852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open calibrated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BBC828-A6B9-4ED6-A8BB-EBDC9726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95600"/>
            <a:ext cx="2171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4D93BC-BF5D-4101-B20C-EF9E1D23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9560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918ECD-094A-475B-919B-62296992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57525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66A0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66A00"/>
                </a:solidFill>
                <a:latin typeface="Aptos"/>
                <a:ea typeface="Aptos"/>
                <a:cs typeface="Aptos"/>
              </a:rPr>
              <a:t>11.55%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270712-59A3-41DC-BE93-0B9C1F38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3852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rolling temporal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6B1618-35D5-45A0-B53A-5578B1E2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Temporal rows: raw month template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6950B0-96AE-434D-8652-D91D9DAB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524375"/>
            <a:ext cx="390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24BBA0-92E2-4655-A9E3-D045C8CD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524375"/>
            <a:ext cx="353575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A9AF10-E86D-4668-93F1-187FD534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5770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11.77%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A8EA08-023F-48D4-A4B3-4855D74D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Temporal rows: rolling calibration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83F0CE-66D1-4B88-803E-A6B638AD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038725"/>
            <a:ext cx="390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A88A96-BCB6-4D76-95D5-67476FA6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038725"/>
            <a:ext cx="3469664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48B10B-4668-479B-9EFE-739B4191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9720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11.55%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D16EAC-7F2C-47B6-B8B8-D67C60D7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054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HGB with user embeddings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024749-103B-427B-AB26-AD33AD5E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553075"/>
            <a:ext cx="390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E46020-00BC-4C4E-AFCE-83C19B08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553075"/>
            <a:ext cx="383916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80FE23-B6AD-4095-AB97-4A529CA1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48640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12.78%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1B0384-3CA6-4E51-B487-B345255A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43250"/>
            <a:ext cx="21907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B351FF-3E48-4A05-BC84-D505040F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43250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5CF213-A355-4C69-882E-4BDD5A45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3375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Интерпретация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96A49A-6834-47F3-AE99-09C42392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38550"/>
            <a:ext cx="1885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Для будущего теста это главный честный режим: train только на прошлом, test только на будущем.</a:t>
            </a:r>
          </a:p>
        </p:txBody>
      </p:sp>
    </p:spTree>
    <p:extLst>
      <p:ext uri="{BB962C8B-B14F-4D97-AF65-F5344CB8AC3E}">
        <p14:creationId xmlns:p14="http://schemas.microsoft.com/office/powerpoint/2010/main" val="5528876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90EB7E-3D75-4EF4-9CD2-7A740456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4C597-ED0F-4BB3-BA6F-25983549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1D7FA-F891-4087-AD06-40245D58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73DE9-4A73-4E87-A55E-B301138C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667A2-E5C8-4EF8-BF53-637821F0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59F004-FF4F-4BA2-92D6-D1D05A65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0D1B05-F9F8-4F24-9383-4C4CA610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572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9EDDF-65D1-4878-BE28-14C8BC1B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Школа информатики, физики и технологий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02EE4-6691-411F-89E3-A6430DB2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Машинное обучение и анализ данных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0BC11-ADDE-43D9-B6C6-857037A6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43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Июнь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6FBF8-1845-441F-A9BB-26BB2FE4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143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3A7A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CC6AA-80E9-4941-8DFA-F94E524F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6B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6B3"/>
                </a:solidFill>
                <a:latin typeface="Aptos"/>
                <a:ea typeface="Aptos"/>
                <a:cs typeface="Aptos"/>
              </a:rPr>
              <a:t>ATTEMPT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A34116-0384-4E64-ABC3-E9B3605B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838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Replay почти воспроизводит open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F1D39E-F940-491A-992E-3B8D804B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Поскольку часы validate уже есть в history.tsv, можно проверить механику аукциона напрямую.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1D1349-8EB8-4FCB-BE79-A9F670CB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НИР / VK Ads reach forecasting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08BBC3-4BD4-45B7-9AB2-A6CF5D43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2171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96C1EE-710D-407F-9666-FF992336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2E8CE0-A2C0-4EE9-BA76-368A096C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76575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6B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F66B3"/>
                </a:solidFill>
                <a:latin typeface="Aptos"/>
                <a:ea typeface="Aptos"/>
                <a:cs typeface="Aptos"/>
              </a:rPr>
              <a:t>0.85%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F7406B-1CC6-4F59-B407-13BE9E53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5757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tie probability = 0.5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881136-C7CC-49D8-86F9-AC929011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14650"/>
            <a:ext cx="2171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624FDB-9134-417F-B054-667CD9A6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146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2E168A-7641-4307-8A2C-8D036CA2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76575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7A5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67A5E"/>
                </a:solidFill>
                <a:latin typeface="Aptos"/>
                <a:ea typeface="Aptos"/>
                <a:cs typeface="Aptos"/>
              </a:rPr>
              <a:t>0.84%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D8E01D-D3AF-4E06-8CEE-B677CF4A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5757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tie probability = 0.483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E47310-DFB1-4420-9F00-61191610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14650"/>
            <a:ext cx="2171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FB300D-AB94-486E-A2D5-398D18F3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146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3F355A-406C-4FB5-B934-0167B26B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76575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&lt;1%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1492DC-544C-46A6-BEF6-C0D7C792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5757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ошибка по метрике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D2551E-8E9E-4616-8335-A4352FD6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653D6C-6176-4551-8287-828FA2E8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409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4C12C2-CF01-438D-9C90-9F4BEE06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3790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7A5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67A5E"/>
                </a:solidFill>
                <a:latin typeface="Aptos"/>
                <a:ea typeface="Aptos"/>
                <a:cs typeface="Aptos"/>
              </a:rPr>
              <a:t>Почему так хорошо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6EB2B2-3314-4126-A929-68E256E1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38700"/>
            <a:ext cx="3790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Replay использует observed opportunities из тех же часов, поэтому проверяет правила auction/session почти напрямую.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1A8A12-91AC-4A24-B7F7-DD5929D9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34340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71E6CF-961F-47A0-B234-8EF30FA7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343400"/>
            <a:ext cx="409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30446D-8D57-44A1-984D-EDB90DE8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533900"/>
            <a:ext cx="3790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66A0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66A00"/>
                </a:solidFill>
                <a:latin typeface="Aptos"/>
                <a:ea typeface="Aptos"/>
                <a:cs typeface="Aptos"/>
              </a:rPr>
              <a:t>Честная оговорка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BF1B7A-271E-4BDE-89F3-94D5BA1E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838700"/>
            <a:ext cx="3790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Это не означает, что future forecasting решен с ошибкой &lt;1%; для будущего нужен month-template или отдельный supply forecast.</a:t>
            </a:r>
          </a:p>
        </p:txBody>
      </p:sp>
    </p:spTree>
    <p:extLst>
      <p:ext uri="{BB962C8B-B14F-4D97-AF65-F5344CB8AC3E}">
        <p14:creationId xmlns:p14="http://schemas.microsoft.com/office/powerpoint/2010/main" val="18929026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42E6F8-A51D-4BBE-90D7-E5FD959B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9BAFF7-0B34-4F76-B11C-896AD6C4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C7D6C-FD62-4D7D-80E4-EEC3147C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14F30C-CD32-4F19-ABC7-DB92F7F7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F278B-EE1E-405E-B06C-81000626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AB8C0-698A-493A-9B78-2BEE80DC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72B32-EAAF-41A0-9051-4FD5233C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572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7A5FEA-0D7F-441D-ABD3-FE6CFF5F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Школа информатики, физики и технологий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7D7C4-240C-40A8-8ADA-4B090CA1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Машинное обучение и анализ данных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B9C98-40AB-4703-82F9-9C7C2F5A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43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Июнь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355630-25BE-41D1-B014-74E0DC63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143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3A7A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2DCBF9-CD43-4DB2-BF89-B4662378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6B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6B3"/>
                </a:solidFill>
                <a:latin typeface="Aptos"/>
                <a:ea typeface="Aptos"/>
                <a:cs typeface="Aptos"/>
              </a:rPr>
              <a:t>СРАВНЕНИЕ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7EB3B-F9D8-4649-B88C-9E841A45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838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Декомпозиция выигрывает у baseline и объясняет источник качества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2F62C-E947-46DA-A8A1-A142C9FF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Официальная метрика — процент ошибки, поэтому ниже лучше.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B7374F-B3C3-40A1-B435-038FE6A8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НИР / VK Ads reach forecasting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F9B2B5-EB8B-4A17-A8FB-D6AB21CF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27051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86F88F-C41F-43C5-8BDF-08A3E681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2705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DA472D-4861-4AF0-B4CC-93F748AF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33A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33A3A"/>
                </a:solidFill>
                <a:latin typeface="Aptos"/>
                <a:ea typeface="Aptos"/>
                <a:cs typeface="Aptos"/>
              </a:rPr>
              <a:t>Always zero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7CC422-2978-4EA2-8155-FF64005F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76600"/>
            <a:ext cx="2400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445.86% ошибки. Этот baseline оставлен как sanity check: задача не решается нулевым прогнозом.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ECC15F-F1BA-4E09-8E1E-CF7BE732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81300"/>
            <a:ext cx="657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Основные модели в увеличенном масштабе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A09E09-D003-4EE5-B674-890CDEEA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38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HGB temporal + embeddings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CA4954-2B91-4369-9A34-F5F77ED3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286125"/>
            <a:ext cx="3143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9EE82B-2A94-43B9-BF47-55D32FA7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286125"/>
            <a:ext cx="309005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DF1154-508C-4346-9167-F174E32D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2194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12.78%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0732B8-4DA4-42D6-8DDE-33986BF8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752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Month template calibrated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D4FEE5-7A98-4BDA-8ECE-CF1F7998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800475"/>
            <a:ext cx="3143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FDA5F0-2407-4A1A-89A3-2235BF98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800475"/>
            <a:ext cx="2681434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203F51-F095-421C-946A-D5AD1FAC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73380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11.09%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4B8E38-9E98-45B8-B0EC-9DAC4DA1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26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Replay tie=0.5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C2271D-1E63-46BA-993F-60F936BA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314825"/>
            <a:ext cx="3143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E325F3-ECFF-4EC5-8C7E-7772073B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314825"/>
            <a:ext cx="20552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7D554D-B462-4FA5-AE62-4ED7A37A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2481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0.85%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E736D9-B9E9-42C6-A98E-1DEFAEF9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7815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Replay calibrated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622C89-6594-4622-A625-534FD2DB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829175"/>
            <a:ext cx="3143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688A52-C766-4387-B5D8-8621A96C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829175"/>
            <a:ext cx="20310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E7B657-334D-4EC0-9A9A-5DE82956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76250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0.84%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2956F3-2232-4C37-A7E5-7ADB665A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2705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B839FD-1E67-4345-80A1-DA6D966A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2705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39A4E9-D6BF-4239-AAEE-F0FA7D64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7A5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67A5E"/>
                </a:solidFill>
                <a:latin typeface="Aptos"/>
                <a:ea typeface="Aptos"/>
                <a:cs typeface="Aptos"/>
              </a:rPr>
              <a:t>Главный результат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969766-4127-490E-AEED-C5B1A12D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53000"/>
            <a:ext cx="2400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На open validation финальный TSV дает 0.84 по официальному скрипту.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F3F6B2-B0F7-41A2-9EE4-C12BCB19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257800"/>
            <a:ext cx="666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DCBE0E-7860-4A62-A32E-3E7BF260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257800"/>
            <a:ext cx="666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5D1AD8-D871-4B17-9583-04894A37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48300"/>
            <a:ext cx="636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Как читать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2AC7A0-E0B6-4906-BCA9-35E37254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53100"/>
            <a:ext cx="636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11.09% — open per-target calibration; 11.55% — rolling temporal calibration; 0.84% — replay открытой валидации.</a:t>
            </a:r>
          </a:p>
        </p:txBody>
      </p:sp>
    </p:spTree>
    <p:extLst>
      <p:ext uri="{BB962C8B-B14F-4D97-AF65-F5344CB8AC3E}">
        <p14:creationId xmlns:p14="http://schemas.microsoft.com/office/powerpoint/2010/main" val="14404947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A3AAB4-2F4C-43F8-947A-2945BD2A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C1DDB-AC7E-4BDC-A568-2C2237AD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89B0C-93D3-47B9-BA8A-487F616E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70CF3-2AB9-4657-A3B8-F83AC8C2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5E9EF-7B5D-485D-913D-662F664D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A7C8D-5F3D-4345-8618-0878B613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46507-FA6D-478D-A26D-CD0AFC90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572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94891D-F85D-42E7-A7F0-07CA7C73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Школа информатики, физики и технологий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35E09-283E-4297-AD89-E9D79629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Машинное обучение и анализ данных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2B5165-BC16-4038-B37D-2CE891A2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43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Июнь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F5BFA1-1C11-4028-959B-CC2A266D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143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3A7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67A7C-A7C5-4A38-9946-F585B036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6B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6B3"/>
                </a:solidFill>
                <a:latin typeface="Aptos"/>
                <a:ea typeface="Aptos"/>
                <a:cs typeface="Aptos"/>
              </a:rPr>
              <a:t>ВАЖНЫЕ ЗАМЕЧАНИЯ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709BA9-050B-45D8-81F8-B6FCEEF8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838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На защите важно разделить качество replay и качество future forecast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E11DB0-4CAB-424C-8F33-965ECD30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Именно это место чаще всего вызывает вопросы.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ECE2C5-CA66-4811-8068-72CC62FF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НИР / VK Ads reach forecasting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F86782-65A7-4885-B571-EADDDC06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30670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3CF984-B3B6-418C-AD12-99415AD1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3067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918130-CB2B-4AA7-BC1F-0244000F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718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7A5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67A5E"/>
                </a:solidFill>
                <a:latin typeface="Aptos"/>
                <a:ea typeface="Aptos"/>
                <a:cs typeface="Aptos"/>
              </a:rPr>
              <a:t>1. Метрика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D3856C-D2E4-44BE-99F7-7450FA08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Это ошибка, а не accuracy: меньше — лучше; 0.84 означает меньше 1% по official metric.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7C9FF8-BC90-48D8-A6DD-CA6DB171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81300"/>
            <a:ext cx="30670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68F646-0C72-4F22-8A57-5B0DBFD3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81300"/>
            <a:ext cx="3067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93FE93-6B3F-4CA3-BF9A-64798F96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718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66A0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66A00"/>
                </a:solidFill>
                <a:latin typeface="Aptos"/>
                <a:ea typeface="Aptos"/>
                <a:cs typeface="Aptos"/>
              </a:rPr>
              <a:t>2. Replay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21C28B-8BA8-4A7C-A342-1E81CE47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766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Open validation пересекается с history по часам, поэтому replay является sanity check механики.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DF7444-DF1E-4D3B-BC97-B03A7CA8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81300"/>
            <a:ext cx="30670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E6D982-6A9A-4CBA-9284-5EF569E6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81300"/>
            <a:ext cx="3067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3BD520-5327-4602-A745-8DEC3883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718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6B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66B3"/>
                </a:solidFill>
                <a:latin typeface="Aptos"/>
                <a:ea typeface="Aptos"/>
                <a:cs typeface="Aptos"/>
              </a:rPr>
              <a:t>3. Future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778C8D-9922-4EAD-A9F0-6CDA0D14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766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Для скрытого будущего теста нужен month-template или прогноз supply, а не source_shift=0.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C75EDD-7320-441E-9B10-05DCDBD1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30670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31DC53-1345-46D7-BC12-B10D1798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3067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E337B6-2ABF-4271-BF81-F970F751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66A0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66A00"/>
                </a:solidFill>
                <a:latin typeface="Aptos"/>
                <a:ea typeface="Aptos"/>
                <a:cs typeface="Aptos"/>
              </a:rPr>
              <a:t>4. Ограничение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30945E-1879-4F06-8A11-3ED07F5E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Нет полного лога проигранных аукционов; bid landscape реконструируется по winning CPM.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356D0E-164F-419E-8478-32D9F0A4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57700"/>
            <a:ext cx="30670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01D0BF-6991-49F8-A0FD-E21F2AD7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57700"/>
            <a:ext cx="3067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032A02-7BE1-4F1B-BD31-67344AC8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482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5. Калибровка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4878E5-57A0-4D86-9A21-9415935E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530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Добавлена per-target log-bias calibration; tie=0.483 остается validation-calibrated для replay.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C97C05-D4C5-44A0-B2A1-8FA6AED8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57700"/>
            <a:ext cx="30670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D0E1D0-B00F-47FB-930B-68B8EEC9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57700"/>
            <a:ext cx="3067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9D5967-A098-481E-8A5E-48C28FA2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482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7A5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67A5E"/>
                </a:solidFill>
                <a:latin typeface="Aptos"/>
                <a:ea typeface="Aptos"/>
                <a:cs typeface="Aptos"/>
              </a:rPr>
              <a:t>6. Embeddings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CDB382-D110-4A21-A246-3F3C8CF2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9530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User embeddings применимы; ad/item embeddings невозможны без ad_id в history.tsv.</a:t>
            </a:r>
          </a:p>
        </p:txBody>
      </p:sp>
    </p:spTree>
    <p:extLst>
      <p:ext uri="{BB962C8B-B14F-4D97-AF65-F5344CB8AC3E}">
        <p14:creationId xmlns:p14="http://schemas.microsoft.com/office/powerpoint/2010/main" val="47354783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ED214B-63B8-4AA1-8A07-33ACBA74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8C66B-CE13-4117-99C4-F05221F6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B61C9-512A-42E8-994A-9C10E796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5A649-A15B-42E7-85FF-23BC8298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26681-6D8C-472A-890B-3E8805D8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9FBB5-498D-43D4-995C-B0ACB9AA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89A5E-855B-4514-9575-28EA2693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572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98735-7565-4F75-8C69-7946CEE2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Школа информатики, физики и технологий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614411-787D-4F70-AEB2-55FFCBB6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Машинное обучение и анализ данных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54A212-0456-48FB-B6AE-68468895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43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Июнь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DEB1A-7258-4952-9330-FBE5372B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143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3A7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2115BA-2D16-46C3-9729-BDD95507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6B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6B3"/>
                </a:solidFill>
                <a:latin typeface="Aptos"/>
                <a:ea typeface="Aptos"/>
                <a:cs typeface="Aptos"/>
              </a:rPr>
              <a:t>ВЫВОДЫ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6A6FB8-0657-4D98-BB76-6E9740AB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838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Работа дает воспроизводимый pipeline и готовые материалы для сдачи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132A8A-3F7B-428A-B802-BD4ABAEF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Метод можно защищать как интерпретируемую декомпозицию аукционного forecasting.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B06994-7E5C-4907-B5E1-C53F5AB6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НИР / VK Ads reach forecasting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F803A5-864B-4033-9FF5-D1B05819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F771B8-5836-4601-ACEA-2A790B81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19400"/>
            <a:ext cx="485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Реализован исполняемый ноутбук и модуль прогнозирования.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7C3083-5F4E-4232-B90B-D8B04C4E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43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4CE6E1-3A63-466E-AF53-1B48FE58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485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Добавлены user embedding features и expanding temporal split.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FA1D9C-4D6A-408F-91B0-21A31085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81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29864F-6DD0-4FCC-9FDE-270CEE96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85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Month-template: 11.31%; open per-target calibration: 11.09%.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F4ADC3-B639-481E-A3B8-5B3DF68A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9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7FB9DA-26DE-484A-885B-92E9A5F0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485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Rolling temporal calibration: 11.55%; replay final: 0.84%.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725867-36F8-4CE5-9E42-6A62876E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57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B25B7F-7383-466F-844E-206CF759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485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MLP multi-task проверен как прототип, но не выбран из-за худшей temporal-метрики.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14265D-A6BE-4EF7-A58C-36B50066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285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3F6673-F263-4628-B4CB-5522F4A4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6FC0FA-7C6E-4482-8E42-ABA405B6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385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Сдаваемые артефакты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BE6294-AA8C-43E7-B461-61E232D3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543300"/>
            <a:ext cx="2552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notebook, prediction TSV, source module, archive, сопроводительная записка, презентация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649115-F4BB-4849-820A-5CF871DF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769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3A7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3A7A"/>
                </a:solidFill>
                <a:latin typeface="Aptos"/>
                <a:ea typeface="Aptos"/>
                <a:cs typeface="Aptos"/>
              </a:rPr>
              <a:t>Спасибо! Готова ответить на вопросы по данным, метрике и replay/future различию.</a:t>
            </a:r>
          </a:p>
        </p:txBody>
      </p:sp>
    </p:spTree>
    <p:extLst>
      <p:ext uri="{BB962C8B-B14F-4D97-AF65-F5344CB8AC3E}">
        <p14:creationId xmlns:p14="http://schemas.microsoft.com/office/powerpoint/2010/main" val="14641675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2026-06-18T20:38:48.5120000Z</dcterms:created>
  <dcterms:modified xsi:type="dcterms:W3CDTF">2026-06-18T20:38:48.5130000Z</dcterms:modified>
</coreProperties>
</file>